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Write attempts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R</c:v>
                </c:pt>
                <c:pt idx="1">
                  <c:v>C</c:v>
                </c:pt>
                <c:pt idx="2">
                  <c:v>P</c:v>
                </c:pt>
                <c:pt idx="3">
                  <c:v>S_C</c:v>
                </c:pt>
                <c:pt idx="4">
                  <c:v>S_P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77.0833</c:v>
                </c:pt>
                <c:pt idx="1">
                  <c:v>83.3333</c:v>
                </c:pt>
                <c:pt idx="2">
                  <c:v>2.0833</c:v>
                </c:pt>
                <c:pt idx="3">
                  <c:v>91.6667</c:v>
                </c:pt>
                <c:pt idx="4">
                  <c:v>45.8333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1863616"/>
        <c:axId val="1959730416"/>
      </c:barChart>
      <c:catAx>
        <c:axId val="1961863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59730416"/>
        <c:crosses val="autoZero"/>
        <c:auto val="1"/>
        <c:lblAlgn val="ctr"/>
        <c:lblOffset val="100"/>
        <c:noMultiLvlLbl val="0"/>
      </c:catAx>
      <c:valAx>
        <c:axId val="1959730416"/>
        <c:scaling>
          <c:orientation val="minMax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Write-attempt rate (%)</a:t>
                </a:r>
                <a:endParaRPr lang="en-US" altLang="zh-CN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6186361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d76be3d-7eaa-4d97-b36d-18aa1b0622c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Paired directives</c:v>
                </c:pt>
              </c:strCache>
            </c:strRef>
          </c:tx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15</c:v>
                </c:pt>
                <c:pt idx="2">
                  <c:v>1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6215776"/>
        <c:axId val="1959715056"/>
      </c:barChart>
      <c:catAx>
        <c:axId val="1956215776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Retention difference (S_C−S_P)</a:t>
                </a:r>
                <a:endParaRPr lang="en-US" altLang="zh-CN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59715056"/>
        <c:crosses val="autoZero"/>
        <c:auto val="1"/>
        <c:lblAlgn val="ctr"/>
        <c:lblOffset val="100"/>
        <c:noMultiLvlLbl val="0"/>
      </c:catAx>
      <c:valAx>
        <c:axId val="1959715056"/>
        <c:scaling>
          <c:orientation val="minMax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Paired directives</a:t>
                </a:r>
                <a:endParaRPr lang="en-US" altLang="zh-CN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5621577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3f60055-9244-4dd6-8c08-ebe1ee8331f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risk</c:v>
                </c:pt>
              </c:strCache>
            </c:strRef>
          </c:tx>
          <c:dLbls>
            <c:delete val="1"/>
          </c:dLbls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0.023141</c:v>
                </c:pt>
                <c:pt idx="2">
                  <c:v>0.0475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0.723</c:v>
                </c:pt>
                <c:pt idx="2">
                  <c:v>1.484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6230768"/>
        <c:axId val="1959716496"/>
      </c:lineChart>
      <c:catAx>
        <c:axId val="195623076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Cov(a,b)</a:t>
                </a:r>
                <a:endParaRPr lang="en-US" altLang="zh-CN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59716496"/>
        <c:crosses val="autoZero"/>
        <c:auto val="1"/>
        <c:lblAlgn val="ctr"/>
        <c:lblOffset val="100"/>
        <c:noMultiLvlLbl val="0"/>
      </c:catAx>
      <c:valAx>
        <c:axId val="1959716496"/>
        <c:scaling>
          <c:orientation val="minMax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Excess risk (pp)</a:t>
                </a:r>
                <a:endParaRPr lang="en-US" altLang="zh-CN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56230768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0aef957-b1a9-4d1b-8453-d5193647989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5BAA3-9BD2-484A-BA17-8B309C551A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58734-138B-4D15-B7DE-87DD891465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chart" Target="../charts/chart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F1_WriteBackConnector"/>
          <p:cNvCxnSpPr>
            <a:stCxn id="16" idx="2"/>
            <a:endCxn id="4" idx="0"/>
          </p:cNvCxnSpPr>
          <p:nvPr>
            <p:custDataLst>
              <p:tags r:id="rId1"/>
            </p:custDataLst>
          </p:nvPr>
        </p:nvCxnSpPr>
        <p:spPr>
          <a:xfrm>
            <a:off x="7480300" y="1193800"/>
            <a:ext cx="0" cy="711200"/>
          </a:xfrm>
          <a:prstGeom prst="straightConnector1">
            <a:avLst/>
          </a:prstGeom>
          <a:ln w="1524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1_ElevationConnector"/>
          <p:cNvCxnSpPr>
            <a:stCxn id="15" idx="2"/>
            <a:endCxn id="3" idx="0"/>
          </p:cNvCxnSpPr>
          <p:nvPr>
            <p:custDataLst>
              <p:tags r:id="rId2"/>
            </p:custDataLst>
          </p:nvPr>
        </p:nvCxnSpPr>
        <p:spPr>
          <a:xfrm>
            <a:off x="4533900" y="1193800"/>
            <a:ext cx="0" cy="711200"/>
          </a:xfrm>
          <a:prstGeom prst="straightConnector1">
            <a:avLst/>
          </a:prstGeom>
          <a:ln w="1524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F1_DownstreamConnector"/>
          <p:cNvCxnSpPr>
            <a:stCxn id="5" idx="2"/>
            <a:endCxn id="6" idx="0"/>
          </p:cNvCxnSpPr>
          <p:nvPr>
            <p:custDataLst>
              <p:tags r:id="rId3"/>
            </p:custDataLst>
          </p:nvPr>
        </p:nvCxnSpPr>
        <p:spPr>
          <a:xfrm>
            <a:off x="10668000" y="2743200"/>
            <a:ext cx="0" cy="609600"/>
          </a:xfrm>
          <a:prstGeom prst="straightConnector1">
            <a:avLst/>
          </a:prstGeom>
          <a:ln w="19050">
            <a:solidFill>
              <a:srgbClr val="777777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F1_AllowConnector"/>
          <p:cNvCxnSpPr>
            <a:stCxn id="4" idx="3"/>
            <a:endCxn id="5" idx="1"/>
          </p:cNvCxnSpPr>
          <p:nvPr>
            <p:custDataLst>
              <p:tags r:id="rId4"/>
            </p:custDataLst>
          </p:nvPr>
        </p:nvCxnSpPr>
        <p:spPr>
          <a:xfrm>
            <a:off x="8610600" y="2324100"/>
            <a:ext cx="914400" cy="0"/>
          </a:xfrm>
          <a:prstGeom prst="straightConnector1">
            <a:avLst/>
          </a:prstGeom>
          <a:ln w="1905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F1_AttemptConnector"/>
          <p:cNvCxnSpPr>
            <a:stCxn id="3" idx="3"/>
            <a:endCxn id="4" idx="1"/>
          </p:cNvCxnSpPr>
          <p:nvPr>
            <p:custDataLst>
              <p:tags r:id="rId5"/>
            </p:custDataLst>
          </p:nvPr>
        </p:nvCxnSpPr>
        <p:spPr>
          <a:xfrm>
            <a:off x="5486400" y="2324100"/>
            <a:ext cx="863600" cy="0"/>
          </a:xfrm>
          <a:prstGeom prst="straightConnector1">
            <a:avLst/>
          </a:prstGeom>
          <a:ln w="1905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F1_DataConnector"/>
          <p:cNvCxnSpPr>
            <a:stCxn id="2" idx="3"/>
            <a:endCxn id="3" idx="1"/>
          </p:cNvCxnSpPr>
          <p:nvPr>
            <p:custDataLst>
              <p:tags r:id="rId6"/>
            </p:custDataLst>
          </p:nvPr>
        </p:nvCxnSpPr>
        <p:spPr>
          <a:xfrm flipV="1">
            <a:off x="2463800" y="2324100"/>
            <a:ext cx="1117600" cy="12700"/>
          </a:xfrm>
          <a:prstGeom prst="straightConnector1">
            <a:avLst/>
          </a:prstGeom>
          <a:ln w="1905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1_Untrusted"/>
          <p:cNvSpPr/>
          <p:nvPr/>
        </p:nvSpPr>
        <p:spPr>
          <a:xfrm>
            <a:off x="304800" y="1905000"/>
            <a:ext cx="2159000" cy="863600"/>
          </a:xfrm>
          <a:prstGeom prst="roundRect">
            <a:avLst/>
          </a:prstGeom>
          <a:solidFill>
            <a:srgbClr val="F1F3F5"/>
          </a:solidFill>
          <a:ln w="19050"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111"/>
                </a:solidFill>
                <a:latin typeface="Times New Roman" panose="02020603050405020304" pitchFamily="18" charset="0"/>
              </a:rPr>
              <a:t>Untrusted content
(adversary-controlled)</a:t>
            </a:r>
            <a:endParaRPr lang="zh-CN" altLang="en-US" sz="15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F1_Receiver"/>
          <p:cNvSpPr/>
          <p:nvPr/>
        </p:nvSpPr>
        <p:spPr>
          <a:xfrm>
            <a:off x="3581400" y="1905000"/>
            <a:ext cx="1905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Receiver model
(structured actions)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F1_Monitor"/>
          <p:cNvSpPr/>
          <p:nvPr/>
        </p:nvSpPr>
        <p:spPr>
          <a:xfrm>
            <a:off x="6350000" y="1905000"/>
            <a:ext cx="22606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Reference monitor
policy × capability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F1_Store"/>
          <p:cNvSpPr/>
          <p:nvPr/>
        </p:nvSpPr>
        <p:spPr>
          <a:xfrm>
            <a:off x="9525000" y="1905000"/>
            <a:ext cx="2286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Protected store
process-local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F1_Downstream"/>
          <p:cNvSpPr/>
          <p:nvPr/>
        </p:nvSpPr>
        <p:spPr>
          <a:xfrm>
            <a:off x="9499600" y="3352800"/>
            <a:ext cx="2336800" cy="812800"/>
          </a:xfrm>
          <a:prstGeom prst="roundRect">
            <a:avLst/>
          </a:prstGeom>
          <a:solidFill>
            <a:srgbClr val="F6F4FF"/>
          </a:solidFill>
          <a:ln w="19050"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Downstream agent read
exposure rung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F1_DataLabel"/>
          <p:cNvSpPr txBox="1"/>
          <p:nvPr/>
        </p:nvSpPr>
        <p:spPr>
          <a:xfrm>
            <a:off x="2514600" y="1651000"/>
            <a:ext cx="1092200" cy="35394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data plane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F1_AttemptLabel"/>
          <p:cNvSpPr txBox="1"/>
          <p:nvPr/>
        </p:nvSpPr>
        <p:spPr>
          <a:xfrm>
            <a:off x="5499100" y="1651000"/>
            <a:ext cx="838200" cy="35394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r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attempt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F1_AllowLabel"/>
          <p:cNvSpPr txBox="1"/>
          <p:nvPr/>
        </p:nvSpPr>
        <p:spPr>
          <a:xfrm>
            <a:off x="8686800" y="1651000"/>
            <a:ext cx="787400" cy="35394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11111"/>
                </a:solidFill>
                <a:latin typeface="Times New Roman" panose="02020603050405020304" pitchFamily="18" charset="0"/>
              </a:rPr>
              <a:t>allow</a:t>
            </a:r>
            <a:endParaRPr lang="zh-CN" altLang="en-US" sz="17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F1_DownstreamLabel"/>
          <p:cNvSpPr txBox="1"/>
          <p:nvPr/>
        </p:nvSpPr>
        <p:spPr>
          <a:xfrm>
            <a:off x="10744200" y="2768600"/>
            <a:ext cx="1333500" cy="482600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555555"/>
                </a:solidFill>
                <a:latin typeface="Times New Roman" panose="02020603050405020304" pitchFamily="18" charset="0"/>
              </a:rPr>
              <a:t>possible
downstream read</a:t>
            </a:r>
            <a:endParaRPr lang="zh-CN" altLang="en-US" sz="1300">
              <a:solidFill>
                <a:srgbClr val="55555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F1_ElevationBox"/>
          <p:cNvSpPr/>
          <p:nvPr/>
        </p:nvSpPr>
        <p:spPr>
          <a:xfrm>
            <a:off x="3581400" y="609600"/>
            <a:ext cx="19050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11111"/>
                </a:solidFill>
                <a:latin typeface="Times New Roman" panose="02020603050405020304" pitchFamily="18" charset="0"/>
              </a:rPr>
              <a:t>elevation </a:t>
            </a:r>
            <a:r>
              <a:rPr lang="zh-CN" altLang="en-US">
                <a:solidFill>
                  <a:srgbClr val="111111"/>
                </a:solidFill>
                <a:latin typeface="Times New Roman" panose="02020603050405020304" pitchFamily="18" charset="0"/>
              </a:rPr>
              <a:t>𝑎</a:t>
            </a:r>
            <a:endParaRPr lang="zh-CN" altLang="en-US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F1_WriteBackBox"/>
          <p:cNvSpPr/>
          <p:nvPr/>
        </p:nvSpPr>
        <p:spPr>
          <a:xfrm>
            <a:off x="6350000" y="609600"/>
            <a:ext cx="2260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11111"/>
                </a:solidFill>
                <a:latin typeface="Times New Roman" panose="02020603050405020304" pitchFamily="18" charset="0"/>
              </a:rPr>
              <a:t>write-back </a:t>
            </a:r>
            <a:r>
              <a:rPr lang="zh-CN" altLang="en-US">
                <a:solidFill>
                  <a:srgbClr val="111111"/>
                </a:solidFill>
                <a:latin typeface="Times New Roman" panose="02020603050405020304" pitchFamily="18" charset="0"/>
              </a:rPr>
              <a:t>𝑏</a:t>
            </a:r>
            <a:endParaRPr lang="zh-CN" altLang="en-US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F1_CheckpointPanel"/>
          <p:cNvSpPr/>
          <p:nvPr/>
        </p:nvSpPr>
        <p:spPr>
          <a:xfrm>
            <a:off x="254000" y="4343400"/>
            <a:ext cx="11684000" cy="198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1_CheckpointTitle"/>
          <p:cNvSpPr txBox="1"/>
          <p:nvPr/>
        </p:nvSpPr>
        <p:spPr>
          <a:xfrm>
            <a:off x="431800" y="4394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Times New Roman" panose="02020603050405020304" pitchFamily="18" charset="0"/>
              </a:rPr>
              <a:t>Logged outcome checkpoints</a:t>
            </a:r>
            <a:endParaRPr lang="zh-CN" altLang="en-US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F1_HeaderReceiver"/>
          <p:cNvSpPr/>
          <p:nvPr/>
        </p:nvSpPr>
        <p:spPr>
          <a:xfrm>
            <a:off x="431800" y="4787900"/>
            <a:ext cx="27178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11111"/>
                </a:solidFill>
                <a:latin typeface="Times New Roman" panose="02020603050405020304" pitchFamily="18" charset="0"/>
              </a:rPr>
              <a:t>Receiver</a:t>
            </a:r>
            <a:endParaRPr lang="zh-CN" altLang="en-US" sz="1500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F1_HeaderMonitor"/>
          <p:cNvSpPr/>
          <p:nvPr/>
        </p:nvSpPr>
        <p:spPr>
          <a:xfrm>
            <a:off x="3429000" y="4787900"/>
            <a:ext cx="25908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11111"/>
                </a:solidFill>
                <a:latin typeface="Times New Roman" panose="02020603050405020304" pitchFamily="18" charset="0"/>
              </a:rPr>
              <a:t>Reference monitor</a:t>
            </a:r>
            <a:endParaRPr lang="zh-CN" altLang="en-US" sz="1500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F1_HeaderStore"/>
          <p:cNvSpPr/>
          <p:nvPr/>
        </p:nvSpPr>
        <p:spPr>
          <a:xfrm>
            <a:off x="6299200" y="4787900"/>
            <a:ext cx="2641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11111"/>
                </a:solidFill>
                <a:latin typeface="Times New Roman" panose="02020603050405020304" pitchFamily="18" charset="0"/>
              </a:rPr>
              <a:t>Protected store</a:t>
            </a:r>
            <a:endParaRPr lang="zh-CN" altLang="en-US" sz="1500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F1_HeaderDownstream"/>
          <p:cNvSpPr/>
          <p:nvPr/>
        </p:nvSpPr>
        <p:spPr>
          <a:xfrm>
            <a:off x="9220200" y="4787900"/>
            <a:ext cx="26670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11111"/>
                </a:solidFill>
                <a:latin typeface="Times New Roman" panose="02020603050405020304" pitchFamily="18" charset="0"/>
              </a:rPr>
              <a:t>Downstream reader</a:t>
            </a:r>
            <a:endParaRPr lang="zh-CN" altLang="en-US" sz="1500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F1_BodyReceiver"/>
          <p:cNvSpPr/>
          <p:nvPr/>
        </p:nvSpPr>
        <p:spPr>
          <a:xfrm>
            <a:off x="431800" y="5232400"/>
            <a:ext cx="27178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F1_BodyMonitor"/>
          <p:cNvSpPr/>
          <p:nvPr/>
        </p:nvSpPr>
        <p:spPr>
          <a:xfrm>
            <a:off x="3429000" y="5232400"/>
            <a:ext cx="25908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F1_BodyStore"/>
          <p:cNvSpPr/>
          <p:nvPr/>
        </p:nvSpPr>
        <p:spPr>
          <a:xfrm>
            <a:off x="6299200" y="5232400"/>
            <a:ext cx="26416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F1_BodyDownstream"/>
          <p:cNvSpPr/>
          <p:nvPr/>
        </p:nvSpPr>
        <p:spPr>
          <a:xfrm>
            <a:off x="9220200" y="5232400"/>
            <a:ext cx="2667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F1_Rung1"/>
          <p:cNvSpPr/>
          <p:nvPr/>
        </p:nvSpPr>
        <p:spPr>
          <a:xfrm>
            <a:off x="774700" y="53086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1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F1_Rung1Text"/>
          <p:cNvSpPr txBox="1"/>
          <p:nvPr/>
        </p:nvSpPr>
        <p:spPr>
          <a:xfrm>
            <a:off x="1333500" y="5308600"/>
            <a:ext cx="1524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latin typeface="Times New Roman" panose="02020603050405020304" pitchFamily="18" charset="0"/>
              </a:rPr>
              <a:t>attempt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31" name="F1_Rung2"/>
          <p:cNvSpPr/>
          <p:nvPr/>
        </p:nvSpPr>
        <p:spPr>
          <a:xfrm>
            <a:off x="774700" y="56769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2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F1_Rung2Text"/>
          <p:cNvSpPr txBox="1"/>
          <p:nvPr/>
        </p:nvSpPr>
        <p:spPr>
          <a:xfrm>
            <a:off x="1333500" y="56388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50">
                <a:latin typeface="Times New Roman" panose="02020603050405020304" pitchFamily="18" charset="0"/>
              </a:rPr>
              <a:t>unauthorized
attempt</a:t>
            </a:r>
            <a:endParaRPr lang="zh-CN" altLang="en-US" sz="1350">
              <a:latin typeface="Times New Roman" panose="02020603050405020304" pitchFamily="18" charset="0"/>
            </a:endParaRPr>
          </a:p>
        </p:txBody>
      </p:sp>
      <p:sp>
        <p:nvSpPr>
          <p:cNvPr id="33" name="F1_Rung3"/>
          <p:cNvSpPr/>
          <p:nvPr/>
        </p:nvSpPr>
        <p:spPr>
          <a:xfrm>
            <a:off x="3886200" y="53340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3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F1_Rung3Text"/>
          <p:cNvSpPr txBox="1"/>
          <p:nvPr/>
        </p:nvSpPr>
        <p:spPr>
          <a:xfrm>
            <a:off x="4470400" y="5321300"/>
            <a:ext cx="13208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50">
                <a:latin typeface="Times New Roman" panose="02020603050405020304" pitchFamily="18" charset="0"/>
              </a:rPr>
              <a:t>capability
decision</a:t>
            </a:r>
            <a:endParaRPr lang="zh-CN" altLang="en-US" sz="1350">
              <a:latin typeface="Times New Roman" panose="02020603050405020304" pitchFamily="18" charset="0"/>
            </a:endParaRPr>
          </a:p>
        </p:txBody>
      </p:sp>
      <p:sp>
        <p:nvSpPr>
          <p:cNvPr id="35" name="F1_Rung4"/>
          <p:cNvSpPr/>
          <p:nvPr/>
        </p:nvSpPr>
        <p:spPr>
          <a:xfrm>
            <a:off x="6756400" y="53086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4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F1_Rung4Text"/>
          <p:cNvSpPr txBox="1"/>
          <p:nvPr/>
        </p:nvSpPr>
        <p:spPr>
          <a:xfrm>
            <a:off x="7315200" y="5308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latin typeface="Times New Roman" panose="02020603050405020304" pitchFamily="18" charset="0"/>
              </a:rPr>
              <a:t>mutation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37" name="F1_Rung5"/>
          <p:cNvSpPr/>
          <p:nvPr/>
        </p:nvSpPr>
        <p:spPr>
          <a:xfrm>
            <a:off x="6756400" y="56769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5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F1_Rung5Text"/>
          <p:cNvSpPr txBox="1"/>
          <p:nvPr/>
        </p:nvSpPr>
        <p:spPr>
          <a:xfrm>
            <a:off x="7315200" y="5638800"/>
            <a:ext cx="14986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50">
                <a:latin typeface="Times New Roman" panose="02020603050405020304" pitchFamily="18" charset="0"/>
              </a:rPr>
              <a:t>unauthorized
mutation</a:t>
            </a:r>
            <a:endParaRPr lang="zh-CN" altLang="en-US" sz="1350">
              <a:latin typeface="Times New Roman" panose="02020603050405020304" pitchFamily="18" charset="0"/>
            </a:endParaRPr>
          </a:p>
        </p:txBody>
      </p:sp>
      <p:sp>
        <p:nvSpPr>
          <p:cNvPr id="39" name="F1_Rung6"/>
          <p:cNvSpPr/>
          <p:nvPr/>
        </p:nvSpPr>
        <p:spPr>
          <a:xfrm>
            <a:off x="9779000" y="5346700"/>
            <a:ext cx="381000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11111"/>
                </a:solidFill>
                <a:latin typeface="Times New Roman" panose="02020603050405020304" pitchFamily="18" charset="0"/>
              </a:rPr>
              <a:t>6</a:t>
            </a:r>
            <a:endParaRPr lang="zh-CN" altLang="en-US" sz="14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F1_Rung6Text"/>
          <p:cNvSpPr txBox="1"/>
          <p:nvPr/>
        </p:nvSpPr>
        <p:spPr>
          <a:xfrm>
            <a:off x="10350500" y="5321300"/>
            <a:ext cx="127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latin typeface="Times New Roman" panose="02020603050405020304" pitchFamily="18" charset="0"/>
              </a:rPr>
              <a:t>exposure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41" name="F1_PrimaryEstimand"/>
          <p:cNvSpPr txBox="1"/>
          <p:nvPr/>
        </p:nvSpPr>
        <p:spPr>
          <a:xfrm>
            <a:off x="4254500" y="6019800"/>
            <a:ext cx="393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</a:rPr>
              <a:t>Primary estimand:  </a:t>
            </a:r>
            <a:r>
              <a:rPr lang="zh-CN" altLang="en-US" sz="1400">
                <a:latin typeface="Times New Roman" panose="02020603050405020304" pitchFamily="18" charset="0"/>
              </a:rPr>
              <a:t>𝑅 </a:t>
            </a:r>
            <a:r>
              <a:rPr lang="en-US" altLang="zh-CN" sz="1400">
                <a:latin typeface="Times New Roman" panose="02020603050405020304" pitchFamily="18" charset="0"/>
              </a:rPr>
              <a:t>= Pr(rung 5)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42" name="F1_FooterNote"/>
          <p:cNvSpPr txBox="1"/>
          <p:nvPr/>
        </p:nvSpPr>
        <p:spPr>
          <a:xfrm>
            <a:off x="457200" y="6426200"/>
            <a:ext cx="113665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Times New Roman" panose="02020603050405020304" pitchFamily="18" charset="0"/>
              </a:rPr>
              <a:t>𝑟₀</a:t>
            </a:r>
            <a:r>
              <a:rPr lang="en-US" altLang="zh-CN" sz="1300">
                <a:solidFill>
                  <a:srgbClr val="11111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1300">
                <a:solidFill>
                  <a:srgbClr val="111111"/>
                </a:solidFill>
                <a:latin typeface="Times New Roman" panose="02020603050405020304" pitchFamily="18" charset="0"/>
              </a:rPr>
              <a:t>𝑟₁</a:t>
            </a:r>
            <a:r>
              <a:rPr lang="en-US" altLang="zh-CN" sz="1300">
                <a:solidFill>
                  <a:srgbClr val="111111"/>
                </a:solidFill>
                <a:latin typeface="Times New Roman" panose="02020603050405020304" pitchFamily="18" charset="0"/>
              </a:rPr>
              <a:t>: exact protected-write request rates at </a:t>
            </a:r>
            <a:r>
              <a:rPr lang="zh-CN" altLang="en-US" sz="1300">
                <a:solidFill>
                  <a:srgbClr val="111111"/>
                </a:solidFill>
                <a:latin typeface="Times New Roman" panose="02020603050405020304" pitchFamily="18" charset="0"/>
              </a:rPr>
              <a:t>𝑎</a:t>
            </a:r>
            <a:r>
              <a:rPr lang="en-US" altLang="zh-CN" sz="1300">
                <a:solidFill>
                  <a:srgbClr val="111111"/>
                </a:solidFill>
                <a:latin typeface="Times New Roman" panose="02020603050405020304" pitchFamily="18" charset="0"/>
              </a:rPr>
              <a:t>=0,1 in the covariance fixture; </a:t>
            </a:r>
            <a:r>
              <a:rPr lang="zh-CN" altLang="en-US" sz="1300">
                <a:solidFill>
                  <a:srgbClr val="111111"/>
                </a:solidFill>
                <a:latin typeface="Times New Roman" panose="02020603050405020304" pitchFamily="18" charset="0"/>
              </a:rPr>
              <a:t>𝑏 </a:t>
            </a:r>
            <a:r>
              <a:rPr lang="en-US" altLang="zh-CN" sz="1300">
                <a:solidFill>
                  <a:srgbClr val="111111"/>
                </a:solidFill>
                <a:latin typeface="Times New Roman" panose="02020603050405020304" pitchFamily="18" charset="0"/>
              </a:rPr>
              <a:t>gates mutation.</a:t>
            </a:r>
            <a:endParaRPr lang="zh-CN" altLang="en-US" sz="1300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F2_ChartA"/>
          <p:cNvGraphicFramePr/>
          <p:nvPr/>
        </p:nvGraphicFramePr>
        <p:xfrm>
          <a:off x="355600" y="736600"/>
          <a:ext cx="6477000" cy="513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" name="F2_ChartB"/>
          <p:cNvGraphicFramePr/>
          <p:nvPr/>
        </p:nvGraphicFramePr>
        <p:xfrm>
          <a:off x="7493000" y="736600"/>
          <a:ext cx="4381500" cy="513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2_TitleA"/>
          <p:cNvSpPr txBox="1"/>
          <p:nvPr/>
        </p:nvSpPr>
        <p:spPr>
          <a:xfrm>
            <a:off x="698500" y="152400"/>
            <a:ext cx="546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 b="1">
                <a:solidFill>
                  <a:srgbClr val="111827"/>
                </a:solidFill>
                <a:latin typeface="Arial" panose="020B0604020202020204" pitchFamily="34" charset="0"/>
              </a:rPr>
              <a:t>(a) Receiver write attempts</a:t>
            </a:r>
            <a:endParaRPr lang="zh-CN" altLang="en-US" sz="2200" b="1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5" name="F2_TitleB"/>
          <p:cNvSpPr txBox="1"/>
          <p:nvPr/>
        </p:nvSpPr>
        <p:spPr>
          <a:xfrm>
            <a:off x="7645400" y="152400"/>
            <a:ext cx="419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 b="1">
                <a:solidFill>
                  <a:srgbClr val="111827"/>
                </a:solidFill>
                <a:latin typeface="Arial" panose="020B0604020202020204" pitchFamily="34" charset="0"/>
              </a:rPr>
              <a:t>(b) Rater-A retention shift</a:t>
            </a:r>
            <a:endParaRPr lang="zh-CN" altLang="en-US" sz="2200" b="1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6" name="F2_Overlay_R"/>
          <p:cNvSpPr/>
          <p:nvPr/>
        </p:nvSpPr>
        <p:spPr>
          <a:xfrm>
            <a:off x="1416050" y="1953260"/>
            <a:ext cx="349250" cy="3634740"/>
          </a:xfrm>
          <a:prstGeom prst="rect">
            <a:avLst/>
          </a:prstGeom>
          <a:solidFill>
            <a:srgbClr val="8A8F98"/>
          </a:solidFill>
          <a:ln w="7620">
            <a:solidFill>
              <a:srgbClr val="2636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F2_Overlay_P"/>
          <p:cNvSpPr/>
          <p:nvPr/>
        </p:nvSpPr>
        <p:spPr>
          <a:xfrm>
            <a:off x="3693160" y="5490210"/>
            <a:ext cx="349250" cy="97790"/>
          </a:xfrm>
          <a:prstGeom prst="rect">
            <a:avLst/>
          </a:prstGeom>
          <a:solidFill>
            <a:srgbClr val="B88A36"/>
          </a:solidFill>
          <a:ln w="7620">
            <a:solidFill>
              <a:srgbClr val="2636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2_Overlay_SP"/>
          <p:cNvSpPr/>
          <p:nvPr/>
        </p:nvSpPr>
        <p:spPr>
          <a:xfrm>
            <a:off x="5960110" y="3429000"/>
            <a:ext cx="349250" cy="2159000"/>
          </a:xfrm>
          <a:prstGeom prst="rect">
            <a:avLst/>
          </a:prstGeom>
          <a:solidFill>
            <a:srgbClr val="B88A36"/>
          </a:solidFill>
          <a:ln w="7620">
            <a:solidFill>
              <a:srgbClr val="2636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2_Label_R"/>
          <p:cNvSpPr txBox="1"/>
          <p:nvPr/>
        </p:nvSpPr>
        <p:spPr>
          <a:xfrm>
            <a:off x="1193800" y="1676400"/>
            <a:ext cx="825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37/48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0" name="F2_Label_C"/>
          <p:cNvSpPr txBox="1"/>
          <p:nvPr/>
        </p:nvSpPr>
        <p:spPr>
          <a:xfrm>
            <a:off x="2324100" y="1409700"/>
            <a:ext cx="825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40/48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1" name="F2_Label_P"/>
          <p:cNvSpPr txBox="1"/>
          <p:nvPr/>
        </p:nvSpPr>
        <p:spPr>
          <a:xfrm>
            <a:off x="3467100" y="5143500"/>
            <a:ext cx="825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1/48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2" name="F2_Label_SC"/>
          <p:cNvSpPr txBox="1"/>
          <p:nvPr/>
        </p:nvSpPr>
        <p:spPr>
          <a:xfrm>
            <a:off x="4597400" y="1016000"/>
            <a:ext cx="825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44/48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3" name="F2_Label_SP"/>
          <p:cNvSpPr txBox="1"/>
          <p:nvPr/>
        </p:nvSpPr>
        <p:spPr>
          <a:xfrm>
            <a:off x="5740400" y="3136900"/>
            <a:ext cx="825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22/48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4" name="F2_Label_B0"/>
          <p:cNvSpPr txBox="1"/>
          <p:nvPr/>
        </p:nvSpPr>
        <p:spPr>
          <a:xfrm>
            <a:off x="8077200" y="901700"/>
            <a:ext cx="571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17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5" name="F2_Label_B1"/>
          <p:cNvSpPr txBox="1"/>
          <p:nvPr/>
        </p:nvSpPr>
        <p:spPr>
          <a:xfrm>
            <a:off x="8991600" y="1409700"/>
            <a:ext cx="571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15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6" name="F2_Label_B2"/>
          <p:cNvSpPr txBox="1"/>
          <p:nvPr/>
        </p:nvSpPr>
        <p:spPr>
          <a:xfrm>
            <a:off x="9893300" y="4940300"/>
            <a:ext cx="571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1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7" name="F2_Label_B3"/>
          <p:cNvSpPr txBox="1"/>
          <p:nvPr/>
        </p:nvSpPr>
        <p:spPr>
          <a:xfrm>
            <a:off x="10807700" y="1409700"/>
            <a:ext cx="571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11827"/>
                </a:solidFill>
                <a:latin typeface="Arial" panose="020B0604020202020204" pitchFamily="34" charset="0"/>
              </a:rPr>
              <a:t>15</a:t>
            </a:r>
            <a:endParaRPr lang="zh-CN" altLang="en-US" sz="15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F2_BracketRaw_H"/>
          <p:cNvCxnSpPr/>
          <p:nvPr>
            <p:custDataLst>
              <p:tags r:id="rId3"/>
            </p:custDataLst>
          </p:nvPr>
        </p:nvCxnSpPr>
        <p:spPr>
          <a:xfrm>
            <a:off x="1193800" y="6070600"/>
            <a:ext cx="774700" cy="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F2_BracketRaw_L"/>
          <p:cNvCxnSpPr/>
          <p:nvPr>
            <p:custDataLst>
              <p:tags r:id="rId4"/>
            </p:custDataLst>
          </p:nvPr>
        </p:nvCxnSpPr>
        <p:spPr>
          <a:xfrm>
            <a:off x="11938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F2_BracketRaw_R"/>
          <p:cNvCxnSpPr/>
          <p:nvPr>
            <p:custDataLst>
              <p:tags r:id="rId5"/>
            </p:custDataLst>
          </p:nvPr>
        </p:nvCxnSpPr>
        <p:spPr>
          <a:xfrm>
            <a:off x="19685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2_GroupRaw"/>
          <p:cNvSpPr txBox="1"/>
          <p:nvPr/>
        </p:nvSpPr>
        <p:spPr>
          <a:xfrm>
            <a:off x="1193800" y="6121400"/>
            <a:ext cx="7747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324F"/>
                </a:solidFill>
                <a:latin typeface="Arial" panose="020B0604020202020204" pitchFamily="34" charset="0"/>
              </a:rPr>
              <a:t>raw</a:t>
            </a:r>
            <a:endParaRPr lang="zh-CN" altLang="en-US" sz="1400">
              <a:solidFill>
                <a:srgbClr val="18324F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F2_BracketCarrier_H"/>
          <p:cNvCxnSpPr/>
          <p:nvPr>
            <p:custDataLst>
              <p:tags r:id="rId6"/>
            </p:custDataLst>
          </p:nvPr>
        </p:nvCxnSpPr>
        <p:spPr>
          <a:xfrm>
            <a:off x="2146300" y="6070600"/>
            <a:ext cx="2108200" cy="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2_BracketCarrier_L"/>
          <p:cNvCxnSpPr/>
          <p:nvPr>
            <p:custDataLst>
              <p:tags r:id="rId7"/>
            </p:custDataLst>
          </p:nvPr>
        </p:nvCxnSpPr>
        <p:spPr>
          <a:xfrm>
            <a:off x="21463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F2_BracketCarrier_R"/>
          <p:cNvCxnSpPr/>
          <p:nvPr>
            <p:custDataLst>
              <p:tags r:id="rId8"/>
            </p:custDataLst>
          </p:nvPr>
        </p:nvCxnSpPr>
        <p:spPr>
          <a:xfrm>
            <a:off x="42545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2_GroupCarrier"/>
          <p:cNvSpPr txBox="1"/>
          <p:nvPr/>
        </p:nvSpPr>
        <p:spPr>
          <a:xfrm>
            <a:off x="2413000" y="6121400"/>
            <a:ext cx="1587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324F"/>
                </a:solidFill>
                <a:latin typeface="Arial" panose="020B0604020202020204" pitchFamily="34" charset="0"/>
              </a:rPr>
              <a:t>source carrier</a:t>
            </a:r>
            <a:endParaRPr lang="zh-CN" altLang="en-US" sz="1400">
              <a:solidFill>
                <a:srgbClr val="18324F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F2_BracketRelay_H"/>
          <p:cNvCxnSpPr/>
          <p:nvPr>
            <p:custDataLst>
              <p:tags r:id="rId9"/>
            </p:custDataLst>
          </p:nvPr>
        </p:nvCxnSpPr>
        <p:spPr>
          <a:xfrm>
            <a:off x="4432300" y="6070600"/>
            <a:ext cx="2095500" cy="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F2_BracketRelay_L"/>
          <p:cNvCxnSpPr/>
          <p:nvPr>
            <p:custDataLst>
              <p:tags r:id="rId10"/>
            </p:custDataLst>
          </p:nvPr>
        </p:nvCxnSpPr>
        <p:spPr>
          <a:xfrm>
            <a:off x="44323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F2_BracketRelay_R"/>
          <p:cNvCxnSpPr/>
          <p:nvPr>
            <p:custDataLst>
              <p:tags r:id="rId11"/>
            </p:custDataLst>
          </p:nvPr>
        </p:nvCxnSpPr>
        <p:spPr>
          <a:xfrm>
            <a:off x="6527800" y="5969000"/>
            <a:ext cx="0" cy="101600"/>
          </a:xfrm>
          <a:prstGeom prst="line">
            <a:avLst/>
          </a:prstGeom>
          <a:ln w="15240">
            <a:solidFill>
              <a:srgbClr val="18324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2_GroupRelay"/>
          <p:cNvSpPr txBox="1"/>
          <p:nvPr/>
        </p:nvSpPr>
        <p:spPr>
          <a:xfrm>
            <a:off x="4699000" y="6121400"/>
            <a:ext cx="1587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324F"/>
                </a:solidFill>
                <a:latin typeface="Arial" panose="020B0604020202020204" pitchFamily="34" charset="0"/>
              </a:rPr>
              <a:t>generated relay</a:t>
            </a:r>
            <a:endParaRPr lang="zh-CN" altLang="en-US" sz="1400">
              <a:solidFill>
                <a:srgbClr val="18324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F3_ArrowR2"/>
          <p:cNvCxnSpPr>
            <a:stCxn id="4" idx="3"/>
            <a:endCxn id="5" idx="1"/>
          </p:cNvCxnSpPr>
          <p:nvPr>
            <p:custDataLst>
              <p:tags r:id="rId1"/>
            </p:custDataLst>
          </p:nvPr>
        </p:nvCxnSpPr>
        <p:spPr>
          <a:xfrm>
            <a:off x="8559800" y="2832100"/>
            <a:ext cx="1752600" cy="0"/>
          </a:xfrm>
          <a:prstGeom prst="straightConnector1">
            <a:avLst/>
          </a:prstGeom>
          <a:ln w="30480">
            <a:solidFill>
              <a:srgbClr val="0070C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F3_ArrowR1"/>
          <p:cNvCxnSpPr>
            <a:stCxn id="3" idx="3"/>
            <a:endCxn id="4" idx="1"/>
          </p:cNvCxnSpPr>
          <p:nvPr>
            <p:custDataLst>
              <p:tags r:id="rId2"/>
            </p:custDataLst>
          </p:nvPr>
        </p:nvCxnSpPr>
        <p:spPr>
          <a:xfrm>
            <a:off x="5334000" y="2832100"/>
            <a:ext cx="1651000" cy="0"/>
          </a:xfrm>
          <a:prstGeom prst="straightConnector1">
            <a:avLst/>
          </a:prstGeom>
          <a:ln w="30480">
            <a:solidFill>
              <a:srgbClr val="0070C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F3_ArrowSelect"/>
          <p:cNvCxnSpPr>
            <a:stCxn id="2" idx="3"/>
            <a:endCxn id="3" idx="1"/>
          </p:cNvCxnSpPr>
          <p:nvPr>
            <p:custDataLst>
              <p:tags r:id="rId3"/>
            </p:custDataLst>
          </p:nvPr>
        </p:nvCxnSpPr>
        <p:spPr>
          <a:xfrm>
            <a:off x="2184400" y="2832100"/>
            <a:ext cx="1574800" cy="0"/>
          </a:xfrm>
          <a:prstGeom prst="straightConnector1">
            <a:avLst/>
          </a:prstGeom>
          <a:ln w="25400">
            <a:solidFill>
              <a:srgbClr val="8299AF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3_BoxBank"/>
          <p:cNvSpPr/>
          <p:nvPr/>
        </p:nvSpPr>
        <p:spPr>
          <a:xfrm>
            <a:off x="279400" y="2184400"/>
            <a:ext cx="1905000" cy="1295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E8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F3_BoxSelected"/>
          <p:cNvSpPr/>
          <p:nvPr/>
        </p:nvSpPr>
        <p:spPr>
          <a:xfrm>
            <a:off x="3759200" y="2184400"/>
            <a:ext cx="1574800" cy="1295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E8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F3_BoxR1"/>
          <p:cNvSpPr/>
          <p:nvPr/>
        </p:nvSpPr>
        <p:spPr>
          <a:xfrm>
            <a:off x="6985000" y="2184400"/>
            <a:ext cx="1574800" cy="1295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E8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3_BoxR2"/>
          <p:cNvSpPr/>
          <p:nvPr/>
        </p:nvSpPr>
        <p:spPr>
          <a:xfrm>
            <a:off x="10312400" y="2184400"/>
            <a:ext cx="1625600" cy="1295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8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3_BankNumber"/>
          <p:cNvSpPr txBox="1"/>
          <p:nvPr/>
        </p:nvSpPr>
        <p:spPr>
          <a:xfrm>
            <a:off x="546100" y="2324100"/>
            <a:ext cx="1371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000" b="1">
                <a:solidFill>
                  <a:srgbClr val="0B1B2B"/>
                </a:solidFill>
                <a:latin typeface="Arial" panose="020B0604020202020204" pitchFamily="34" charset="0"/>
              </a:rPr>
              <a:t>192</a:t>
            </a:r>
            <a:endParaRPr lang="zh-CN" altLang="en-US" sz="30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7" name="F3_BankLabel"/>
          <p:cNvSpPr txBox="1"/>
          <p:nvPr/>
        </p:nvSpPr>
        <p:spPr>
          <a:xfrm>
            <a:off x="622300" y="2921000"/>
            <a:ext cx="121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B1B2B"/>
                </a:solidFill>
                <a:latin typeface="Arial" panose="020B0604020202020204" pitchFamily="34" charset="0"/>
              </a:rPr>
              <a:t>Bank</a:t>
            </a:r>
            <a:endParaRPr lang="zh-CN" altLang="en-US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8" name="F3_SelectedNumber"/>
          <p:cNvSpPr txBox="1"/>
          <p:nvPr/>
        </p:nvSpPr>
        <p:spPr>
          <a:xfrm>
            <a:off x="3911600" y="2324100"/>
            <a:ext cx="127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000" b="1">
                <a:solidFill>
                  <a:srgbClr val="0B1B2B"/>
                </a:solidFill>
                <a:latin typeface="Arial" panose="020B0604020202020204" pitchFamily="34" charset="0"/>
              </a:rPr>
              <a:t>121</a:t>
            </a:r>
            <a:endParaRPr lang="zh-CN" altLang="en-US" sz="30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9" name="F3_SelectedLabel"/>
          <p:cNvSpPr txBox="1"/>
          <p:nvPr/>
        </p:nvSpPr>
        <p:spPr>
          <a:xfrm>
            <a:off x="3873500" y="2921000"/>
            <a:ext cx="13462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B1B2B"/>
                </a:solidFill>
                <a:latin typeface="Arial" panose="020B0604020202020204" pitchFamily="34" charset="0"/>
              </a:rPr>
              <a:t>Selected</a:t>
            </a:r>
            <a:endParaRPr lang="zh-CN" altLang="en-US" sz="17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10" name="F3_R1Number"/>
          <p:cNvSpPr txBox="1"/>
          <p:nvPr/>
        </p:nvSpPr>
        <p:spPr>
          <a:xfrm>
            <a:off x="7137400" y="2324100"/>
            <a:ext cx="127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000" b="1">
                <a:solidFill>
                  <a:srgbClr val="0B1B2B"/>
                </a:solidFill>
                <a:latin typeface="Arial" panose="020B0604020202020204" pitchFamily="34" charset="0"/>
              </a:rPr>
              <a:t>40</a:t>
            </a:r>
            <a:endParaRPr lang="zh-CN" altLang="en-US" sz="30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11" name="F3_R1Label"/>
          <p:cNvSpPr txBox="1"/>
          <p:nvPr/>
        </p:nvSpPr>
        <p:spPr>
          <a:xfrm>
            <a:off x="7061200" y="2921000"/>
            <a:ext cx="14224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B1B2B"/>
                </a:solidFill>
                <a:latin typeface="Arial" panose="020B0604020202020204" pitchFamily="34" charset="0"/>
              </a:rPr>
              <a:t>R1 relayed</a:t>
            </a:r>
            <a:endParaRPr lang="zh-CN" altLang="en-US" sz="17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12" name="F3_R2Number"/>
          <p:cNvSpPr txBox="1"/>
          <p:nvPr/>
        </p:nvSpPr>
        <p:spPr>
          <a:xfrm>
            <a:off x="10490200" y="2324100"/>
            <a:ext cx="127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000" b="1">
                <a:solidFill>
                  <a:srgbClr val="0B1B2B"/>
                </a:solidFill>
                <a:latin typeface="Arial" panose="020B0604020202020204" pitchFamily="34" charset="0"/>
              </a:rPr>
              <a:t>17</a:t>
            </a:r>
            <a:endParaRPr lang="zh-CN" altLang="en-US" sz="30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13" name="F3_R2Label"/>
          <p:cNvSpPr txBox="1"/>
          <p:nvPr/>
        </p:nvSpPr>
        <p:spPr>
          <a:xfrm>
            <a:off x="10388600" y="2921000"/>
            <a:ext cx="14732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B1B2B"/>
                </a:solidFill>
                <a:latin typeface="Arial" panose="020B0604020202020204" pitchFamily="34" charset="0"/>
              </a:rPr>
              <a:t>R2 relayed</a:t>
            </a:r>
            <a:endParaRPr lang="zh-CN" altLang="en-US" sz="1700" b="1">
              <a:solidFill>
                <a:srgbClr val="0B1B2B"/>
              </a:solidFill>
              <a:latin typeface="Arial" panose="020B0604020202020204" pitchFamily="34" charset="0"/>
            </a:endParaRPr>
          </a:p>
        </p:txBody>
      </p:sp>
      <p:sp>
        <p:nvSpPr>
          <p:cNvPr id="17" name="F3_PreOutcomeLabel"/>
          <p:cNvSpPr txBox="1"/>
          <p:nvPr/>
        </p:nvSpPr>
        <p:spPr>
          <a:xfrm>
            <a:off x="2286000" y="1676400"/>
            <a:ext cx="1397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59748D"/>
                </a:solidFill>
                <a:latin typeface="Arial" panose="020B0604020202020204" pitchFamily="34" charset="0"/>
              </a:rPr>
              <a:t>pre-outcome
selection</a:t>
            </a:r>
            <a:endParaRPr lang="zh-CN" altLang="en-US" sz="1500" b="1">
              <a:solidFill>
                <a:srgbClr val="59748D"/>
              </a:solidFill>
              <a:latin typeface="Arial" panose="020B0604020202020204" pitchFamily="34" charset="0"/>
            </a:endParaRPr>
          </a:p>
        </p:txBody>
      </p:sp>
      <p:sp>
        <p:nvSpPr>
          <p:cNvPr id="18" name="F3_SelectedRate"/>
          <p:cNvSpPr txBox="1"/>
          <p:nvPr/>
        </p:nvSpPr>
        <p:spPr>
          <a:xfrm>
            <a:off x="2324100" y="2794000"/>
            <a:ext cx="134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59748D"/>
                </a:solidFill>
                <a:latin typeface="Arial" panose="020B0604020202020204" pitchFamily="34" charset="0"/>
              </a:rPr>
              <a:t>121/192
selected</a:t>
            </a:r>
            <a:endParaRPr lang="zh-CN" altLang="en-US" sz="1500" b="1">
              <a:solidFill>
                <a:srgbClr val="59748D"/>
              </a:solidFill>
              <a:latin typeface="Arial" panose="020B0604020202020204" pitchFamily="34" charset="0"/>
            </a:endParaRPr>
          </a:p>
        </p:txBody>
      </p:sp>
      <p:sp>
        <p:nvSpPr>
          <p:cNvPr id="19" name="F3_R1Rate"/>
          <p:cNvSpPr txBox="1"/>
          <p:nvPr/>
        </p:nvSpPr>
        <p:spPr>
          <a:xfrm>
            <a:off x="5397500" y="2336800"/>
            <a:ext cx="15748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50" b="1">
                <a:solidFill>
                  <a:srgbClr val="0070C0"/>
                </a:solidFill>
                <a:latin typeface="Arial" panose="020B0604020202020204" pitchFamily="34" charset="0"/>
              </a:rPr>
              <a:t>40/121 = 33.1%</a:t>
            </a:r>
            <a:endParaRPr lang="zh-CN" altLang="en-US" sz="145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0" name="F3_R2Rate"/>
          <p:cNvSpPr txBox="1"/>
          <p:nvPr/>
        </p:nvSpPr>
        <p:spPr>
          <a:xfrm>
            <a:off x="8737600" y="22733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0070C0"/>
                </a:solidFill>
                <a:latin typeface="Arial" panose="020B0604020202020204" pitchFamily="34" charset="0"/>
              </a:rPr>
              <a:t>17/40 = 42.5%</a:t>
            </a:r>
            <a:endParaRPr lang="zh-CN" altLang="en-US" sz="150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1" name="F3_NoteExcluded"/>
          <p:cNvSpPr txBox="1"/>
          <p:nvPr/>
        </p:nvSpPr>
        <p:spPr>
          <a:xfrm>
            <a:off x="355600" y="38354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6E879D"/>
                </a:solidFill>
                <a:latin typeface="Arial" panose="020B0604020202020204" pitchFamily="34" charset="0"/>
              </a:rPr>
              <a:t>71 excluded;
no outcome measured</a:t>
            </a:r>
            <a:endParaRPr lang="zh-CN" altLang="en-US" sz="1400">
              <a:solidFill>
                <a:srgbClr val="6E879D"/>
              </a:solidFill>
              <a:latin typeface="Arial" panose="020B0604020202020204" pitchFamily="34" charset="0"/>
            </a:endParaRPr>
          </a:p>
        </p:txBody>
      </p:sp>
      <p:sp>
        <p:nvSpPr>
          <p:cNvPr id="22" name="F3_NoteSelected"/>
          <p:cNvSpPr txBox="1"/>
          <p:nvPr/>
        </p:nvSpPr>
        <p:spPr>
          <a:xfrm>
            <a:off x="3860800" y="38354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6E879D"/>
                </a:solidFill>
                <a:latin typeface="Arial" panose="020B0604020202020204" pitchFamily="34" charset="0"/>
              </a:rPr>
              <a:t>81 did not relay</a:t>
            </a:r>
            <a:endParaRPr lang="zh-CN" altLang="en-US" sz="1400" b="1">
              <a:solidFill>
                <a:srgbClr val="6E879D"/>
              </a:solidFill>
              <a:latin typeface="Arial" panose="020B0604020202020204" pitchFamily="34" charset="0"/>
            </a:endParaRPr>
          </a:p>
        </p:txBody>
      </p:sp>
      <p:sp>
        <p:nvSpPr>
          <p:cNvPr id="23" name="F3_NoteR1"/>
          <p:cNvSpPr txBox="1"/>
          <p:nvPr/>
        </p:nvSpPr>
        <p:spPr>
          <a:xfrm>
            <a:off x="7048500" y="38354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6E879D"/>
                </a:solidFill>
                <a:latin typeface="Arial" panose="020B0604020202020204" pitchFamily="34" charset="0"/>
              </a:rPr>
              <a:t>23 did not relay</a:t>
            </a:r>
            <a:endParaRPr lang="zh-CN" altLang="en-US" sz="1400" b="1">
              <a:solidFill>
                <a:srgbClr val="6E879D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F3_BracketBytes_H"/>
          <p:cNvCxnSpPr/>
          <p:nvPr>
            <p:custDataLst>
              <p:tags r:id="rId4"/>
            </p:custDataLst>
          </p:nvPr>
        </p:nvCxnSpPr>
        <p:spPr>
          <a:xfrm>
            <a:off x="4699000" y="1625600"/>
            <a:ext cx="24765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F3_BracketBytes_L"/>
          <p:cNvCxnSpPr/>
          <p:nvPr>
            <p:custDataLst>
              <p:tags r:id="rId5"/>
            </p:custDataLst>
          </p:nvPr>
        </p:nvCxnSpPr>
        <p:spPr>
          <a:xfrm>
            <a:off x="4699000" y="1625600"/>
            <a:ext cx="0" cy="15240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F3_BracketBytes_R"/>
          <p:cNvCxnSpPr/>
          <p:nvPr>
            <p:custDataLst>
              <p:tags r:id="rId6"/>
            </p:custDataLst>
          </p:nvPr>
        </p:nvCxnSpPr>
        <p:spPr>
          <a:xfrm>
            <a:off x="7175500" y="1625600"/>
            <a:ext cx="0" cy="15240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3_BracketBytesLabel"/>
          <p:cNvSpPr txBox="1"/>
          <p:nvPr/>
        </p:nvSpPr>
        <p:spPr>
          <a:xfrm>
            <a:off x="4660900" y="1193800"/>
            <a:ext cx="2603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0070C0"/>
                </a:solidFill>
                <a:latin typeface="Arial" panose="020B0604020202020204" pitchFamily="34" charset="0"/>
              </a:rPr>
              <a:t>archived sender bytes</a:t>
            </a:r>
            <a:endParaRPr lang="zh-CN" altLang="en-US" sz="150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28" name="F3_BracketPayload_H"/>
          <p:cNvCxnSpPr/>
          <p:nvPr>
            <p:custDataLst>
              <p:tags r:id="rId7"/>
            </p:custDataLst>
          </p:nvPr>
        </p:nvCxnSpPr>
        <p:spPr>
          <a:xfrm>
            <a:off x="7937500" y="1625600"/>
            <a:ext cx="24765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F3_BracketPayload_L"/>
          <p:cNvCxnSpPr/>
          <p:nvPr>
            <p:custDataLst>
              <p:tags r:id="rId8"/>
            </p:custDataLst>
          </p:nvPr>
        </p:nvCxnSpPr>
        <p:spPr>
          <a:xfrm>
            <a:off x="7937500" y="1625600"/>
            <a:ext cx="0" cy="15240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F3_BracketPayload_R"/>
          <p:cNvCxnSpPr/>
          <p:nvPr>
            <p:custDataLst>
              <p:tags r:id="rId9"/>
            </p:custDataLst>
          </p:nvPr>
        </p:nvCxnSpPr>
        <p:spPr>
          <a:xfrm>
            <a:off x="10414000" y="1625600"/>
            <a:ext cx="0" cy="15240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3_BracketPayloadLabel"/>
          <p:cNvSpPr txBox="1"/>
          <p:nvPr/>
        </p:nvSpPr>
        <p:spPr>
          <a:xfrm>
            <a:off x="7874000" y="1193800"/>
            <a:ext cx="26035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0070C0"/>
                </a:solidFill>
                <a:latin typeface="Arial" panose="020B0604020202020204" pitchFamily="34" charset="0"/>
              </a:rPr>
              <a:t>R1-generated payload</a:t>
            </a:r>
            <a:endParaRPr lang="zh-CN" altLang="en-US" sz="150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32" name="F3_CompleteRateBox"/>
          <p:cNvSpPr/>
          <p:nvPr/>
        </p:nvSpPr>
        <p:spPr>
          <a:xfrm>
            <a:off x="9601200" y="4038600"/>
            <a:ext cx="2413000" cy="812800"/>
          </a:xfrm>
          <a:prstGeom prst="roundRect">
            <a:avLst/>
          </a:prstGeom>
          <a:solidFill>
            <a:srgbClr val="D8E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en-US" altLang="zh-CN" sz="1500" b="1">
                <a:solidFill>
                  <a:srgbClr val="005BA8"/>
                </a:solidFill>
                <a:latin typeface="Arial" panose="020B0604020202020204" pitchFamily="34" charset="0"/>
              </a:rPr>
              <a:t>Complete rate in selected stratum
17/121 = 14.0%</a:t>
            </a:r>
            <a:endParaRPr lang="zh-CN" altLang="en-US" sz="1500" b="1">
              <a:solidFill>
                <a:srgbClr val="005BA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F4_Chart"/>
          <p:cNvGraphicFramePr/>
          <p:nvPr/>
        </p:nvGraphicFramePr>
        <p:xfrm>
          <a:off x="711200" y="1168400"/>
          <a:ext cx="111506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F4_Header"/>
          <p:cNvSpPr txBox="1"/>
          <p:nvPr/>
        </p:nvSpPr>
        <p:spPr>
          <a:xfrm>
            <a:off x="355600" y="228600"/>
            <a:ext cx="88900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000">
                <a:solidFill>
                  <a:srgbClr val="101827"/>
                </a:solidFill>
                <a:latin typeface="Arial" panose="020B0604020202020204" pitchFamily="34" charset="0"/>
              </a:rPr>
              <a:t>Measured Qwen response:  </a:t>
            </a:r>
            <a:r>
              <a:rPr lang="zh-CN" altLang="en-US" sz="2000">
                <a:solidFill>
                  <a:srgbClr val="101827"/>
                </a:solidFill>
                <a:latin typeface="Arial" panose="020B0604020202020204" pitchFamily="34" charset="0"/>
              </a:rPr>
              <a:t>𝑟₀ </a:t>
            </a:r>
            <a:r>
              <a:rPr lang="en-US" altLang="zh-CN" sz="2000">
                <a:solidFill>
                  <a:srgbClr val="101827"/>
                </a:solidFill>
                <a:latin typeface="Arial" panose="020B0604020202020204" pitchFamily="34" charset="0"/>
              </a:rPr>
              <a:t>= 33/48;   </a:t>
            </a:r>
            <a:r>
              <a:rPr lang="zh-CN" altLang="en-US" sz="2000">
                <a:solidFill>
                  <a:srgbClr val="101827"/>
                </a:solidFill>
                <a:latin typeface="Arial" panose="020B0604020202020204" pitchFamily="34" charset="0"/>
              </a:rPr>
              <a:t>𝑟₁ </a:t>
            </a:r>
            <a:r>
              <a:rPr lang="en-US" altLang="zh-CN" sz="2000">
                <a:solidFill>
                  <a:srgbClr val="101827"/>
                </a:solidFill>
                <a:latin typeface="Arial" panose="020B0604020202020204" pitchFamily="34" charset="0"/>
              </a:rPr>
              <a:t>= 48/48;   Δ</a:t>
            </a:r>
            <a:r>
              <a:rPr lang="zh-CN" altLang="en-US" sz="2000">
                <a:solidFill>
                  <a:srgbClr val="101827"/>
                </a:solidFill>
                <a:latin typeface="Arial" panose="020B0604020202020204" pitchFamily="34" charset="0"/>
              </a:rPr>
              <a:t>𝑟 </a:t>
            </a:r>
            <a:r>
              <a:rPr lang="en-US" altLang="zh-CN" sz="2000">
                <a:solidFill>
                  <a:srgbClr val="101827"/>
                </a:solidFill>
                <a:latin typeface="Arial" panose="020B0604020202020204" pitchFamily="34" charset="0"/>
              </a:rPr>
              <a:t>= 15/48 = 0.3125</a:t>
            </a:r>
            <a:endParaRPr lang="zh-CN" altLang="en-US" sz="2000">
              <a:solidFill>
                <a:srgbClr val="101827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4_HeaderDivider"/>
          <p:cNvCxnSpPr/>
          <p:nvPr>
            <p:custDataLst>
              <p:tags r:id="rId2"/>
            </p:custDataLst>
          </p:nvPr>
        </p:nvCxnSpPr>
        <p:spPr>
          <a:xfrm>
            <a:off x="317500" y="914400"/>
            <a:ext cx="11557000" cy="0"/>
          </a:xfrm>
          <a:prstGeom prst="line">
            <a:avLst/>
          </a:prstGeom>
          <a:ln w="12700">
            <a:solidFill>
              <a:srgbClr val="5B7DA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F4_HeaderNoteDivider"/>
          <p:cNvCxnSpPr/>
          <p:nvPr>
            <p:custDataLst>
              <p:tags r:id="rId3"/>
            </p:custDataLst>
          </p:nvPr>
        </p:nvCxnSpPr>
        <p:spPr>
          <a:xfrm>
            <a:off x="9652000" y="203200"/>
            <a:ext cx="0" cy="533400"/>
          </a:xfrm>
          <a:prstGeom prst="line">
            <a:avLst/>
          </a:prstGeom>
          <a:ln w="15240">
            <a:solidFill>
              <a:srgbClr val="315E8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4_HeaderNote"/>
          <p:cNvSpPr txBox="1"/>
          <p:nvPr/>
        </p:nvSpPr>
        <p:spPr>
          <a:xfrm>
            <a:off x="9906000" y="228600"/>
            <a:ext cx="20320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315E8E"/>
                </a:solidFill>
                <a:latin typeface="Arial" panose="020B0604020202020204" pitchFamily="34" charset="0"/>
              </a:rPr>
              <a:t>exact requests, tool visible,
</a:t>
            </a:r>
            <a:r>
              <a:rPr lang="zh-CN" altLang="en-US" sz="1300">
                <a:solidFill>
                  <a:srgbClr val="315E8E"/>
                </a:solidFill>
                <a:latin typeface="Arial" panose="020B0604020202020204" pitchFamily="34" charset="0"/>
              </a:rPr>
              <a:t>𝑛 </a:t>
            </a:r>
            <a:r>
              <a:rPr lang="en-US" altLang="zh-CN" sz="1300">
                <a:solidFill>
                  <a:srgbClr val="315E8E"/>
                </a:solidFill>
                <a:latin typeface="Arial" panose="020B0604020202020204" pitchFamily="34" charset="0"/>
              </a:rPr>
              <a:t>= 48</a:t>
            </a:r>
            <a:endParaRPr lang="zh-CN" altLang="en-US" sz="1300">
              <a:solidFill>
                <a:srgbClr val="315E8E"/>
              </a:solidFill>
              <a:latin typeface="Arial" panose="020B0604020202020204" pitchFamily="34" charset="0"/>
            </a:endParaRPr>
          </a:p>
        </p:txBody>
      </p:sp>
      <p:sp>
        <p:nvSpPr>
          <p:cNvPr id="7" name="F4_PointIndependent"/>
          <p:cNvSpPr/>
          <p:nvPr/>
        </p:nvSpPr>
        <p:spPr>
          <a:xfrm>
            <a:off x="2921000" y="4775200"/>
            <a:ext cx="228600" cy="228600"/>
          </a:xfrm>
          <a:prstGeom prst="ellipse">
            <a:avLst/>
          </a:prstGeom>
          <a:solidFill>
            <a:srgbClr val="2E6EB8"/>
          </a:solidFill>
          <a:ln w="12700">
            <a:solidFill>
              <a:srgbClr val="2E6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4_PointCommon"/>
          <p:cNvSpPr/>
          <p:nvPr/>
        </p:nvSpPr>
        <p:spPr>
          <a:xfrm>
            <a:off x="6388100" y="3136900"/>
            <a:ext cx="254000" cy="254000"/>
          </a:xfrm>
          <a:prstGeom prst="diamond">
            <a:avLst/>
          </a:prstGeom>
          <a:solidFill>
            <a:srgbClr val="FFFFFF"/>
          </a:solidFill>
          <a:ln w="27940">
            <a:solidFill>
              <a:srgbClr val="C77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4_PointShared"/>
          <p:cNvSpPr/>
          <p:nvPr/>
        </p:nvSpPr>
        <p:spPr>
          <a:xfrm>
            <a:off x="9855200" y="1409700"/>
            <a:ext cx="254000" cy="254000"/>
          </a:xfrm>
          <a:prstGeom prst="triangle">
            <a:avLst/>
          </a:prstGeom>
          <a:solidFill>
            <a:srgbClr val="FFFFFF"/>
          </a:solidFill>
          <a:ln w="27940">
            <a:solidFill>
              <a:srgbClr val="C77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4_LabelIndependent"/>
          <p:cNvSpPr txBox="1"/>
          <p:nvPr/>
        </p:nvSpPr>
        <p:spPr>
          <a:xfrm>
            <a:off x="1498600" y="4089400"/>
            <a:ext cx="1524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11827"/>
                </a:solidFill>
                <a:latin typeface="Arial" panose="020B0604020202020204" pitchFamily="34" charset="0"/>
              </a:rPr>
              <a:t>independent
(0 pp)</a:t>
            </a:r>
            <a:endParaRPr lang="zh-CN" altLang="en-US" sz="13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1" name="F4_LabelCommon"/>
          <p:cNvSpPr txBox="1"/>
          <p:nvPr/>
        </p:nvSpPr>
        <p:spPr>
          <a:xfrm>
            <a:off x="6794500" y="2667000"/>
            <a:ext cx="1651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11827"/>
                </a:solidFill>
                <a:latin typeface="Arial" panose="020B0604020202020204" pitchFamily="34" charset="0"/>
              </a:rPr>
              <a:t>common root
(.723 pp)</a:t>
            </a:r>
            <a:endParaRPr lang="zh-CN" altLang="en-US" sz="13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12" name="F4_LabelShared"/>
          <p:cNvSpPr txBox="1"/>
          <p:nvPr/>
        </p:nvSpPr>
        <p:spPr>
          <a:xfrm>
            <a:off x="10210800" y="1041400"/>
            <a:ext cx="1651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11827"/>
                </a:solidFill>
                <a:latin typeface="Arial" panose="020B0604020202020204" pitchFamily="34" charset="0"/>
              </a:rPr>
              <a:t>shared state
(1.484 pp)</a:t>
            </a:r>
            <a:endParaRPr lang="zh-CN" altLang="en-US" sz="1300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F4_FormulaPointer"/>
          <p:cNvCxnSpPr/>
          <p:nvPr>
            <p:custDataLst>
              <p:tags r:id="rId4"/>
            </p:custDataLst>
          </p:nvPr>
        </p:nvCxnSpPr>
        <p:spPr>
          <a:xfrm flipV="1">
            <a:off x="6540500" y="3238500"/>
            <a:ext cx="254000" cy="254000"/>
          </a:xfrm>
          <a:prstGeom prst="line">
            <a:avLst/>
          </a:prstGeom>
          <a:ln w="15240">
            <a:solidFill>
              <a:srgbClr val="315E8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4_Formula"/>
          <p:cNvSpPr txBox="1"/>
          <p:nvPr/>
        </p:nvSpPr>
        <p:spPr>
          <a:xfrm>
            <a:off x="6858000" y="3429000"/>
            <a:ext cx="3937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i="1">
                <a:solidFill>
                  <a:srgbClr val="315E8E"/>
                </a:solidFill>
                <a:latin typeface="Arial" panose="020B0604020202020204" pitchFamily="34" charset="0"/>
              </a:rPr>
              <a:t>excess (pp) = 31.25 </a:t>
            </a:r>
            <a:r>
              <a:rPr lang="zh-CN" altLang="en-US" sz="1400" i="1">
                <a:solidFill>
                  <a:srgbClr val="315E8E"/>
                </a:solidFill>
                <a:latin typeface="Arial" panose="020B0604020202020204" pitchFamily="34" charset="0"/>
              </a:rPr>
              <a:t>×</a:t>
            </a:r>
            <a:r>
              <a:rPr lang="en-US" altLang="zh-CN" sz="1400" i="1">
                <a:solidFill>
                  <a:srgbClr val="315E8E"/>
                </a:solidFill>
                <a:latin typeface="Arial" panose="020B0604020202020204" pitchFamily="34" charset="0"/>
              </a:rPr>
              <a:t> Cov(a,b)</a:t>
            </a:r>
            <a:endParaRPr lang="en-US" altLang="zh-CN" sz="1400" i="1">
              <a:solidFill>
                <a:srgbClr val="315E8E"/>
              </a:solidFill>
              <a:latin typeface="Arial" panose="020B0604020202020204" pitchFamily="34" charset="0"/>
            </a:endParaRPr>
          </a:p>
        </p:txBody>
      </p:sp>
      <p:sp>
        <p:nvSpPr>
          <p:cNvPr id="15" name="F4_LegendIndependentMark"/>
          <p:cNvSpPr/>
          <p:nvPr/>
        </p:nvSpPr>
        <p:spPr>
          <a:xfrm>
            <a:off x="1473200" y="5638800"/>
            <a:ext cx="254000" cy="254000"/>
          </a:xfrm>
          <a:prstGeom prst="ellipse">
            <a:avLst/>
          </a:prstGeom>
          <a:solidFill>
            <a:srgbClr val="2E6EB8"/>
          </a:solidFill>
          <a:ln w="12700">
            <a:solidFill>
              <a:srgbClr val="2E6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4_LegendIndependentText"/>
          <p:cNvSpPr txBox="1"/>
          <p:nvPr/>
        </p:nvSpPr>
        <p:spPr>
          <a:xfrm>
            <a:off x="1841500" y="5562600"/>
            <a:ext cx="23495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4213A"/>
                </a:solidFill>
                <a:latin typeface="Arial" panose="020B0604020202020204" pitchFamily="34" charset="0"/>
              </a:rPr>
              <a:t>Independent: 0 pp
(3.516%)</a:t>
            </a:r>
            <a:endParaRPr lang="zh-CN" altLang="en-US" sz="1300">
              <a:solidFill>
                <a:srgbClr val="14213A"/>
              </a:solidFill>
              <a:latin typeface="Arial" panose="020B0604020202020204" pitchFamily="34" charset="0"/>
            </a:endParaRPr>
          </a:p>
        </p:txBody>
      </p:sp>
      <p:sp>
        <p:nvSpPr>
          <p:cNvPr id="17" name="F4_LegendCommonMark"/>
          <p:cNvSpPr/>
          <p:nvPr/>
        </p:nvSpPr>
        <p:spPr>
          <a:xfrm>
            <a:off x="4851400" y="5638800"/>
            <a:ext cx="254000" cy="2540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C77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4_LegendCommonText"/>
          <p:cNvSpPr txBox="1"/>
          <p:nvPr/>
        </p:nvSpPr>
        <p:spPr>
          <a:xfrm>
            <a:off x="5257800" y="55626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4213A"/>
                </a:solidFill>
                <a:latin typeface="Arial" panose="020B0604020202020204" pitchFamily="34" charset="0"/>
              </a:rPr>
              <a:t>Common root: .723 pp
(4.239%)</a:t>
            </a:r>
            <a:endParaRPr lang="zh-CN" altLang="en-US" sz="1300">
              <a:solidFill>
                <a:srgbClr val="14213A"/>
              </a:solidFill>
              <a:latin typeface="Arial" panose="020B0604020202020204" pitchFamily="34" charset="0"/>
            </a:endParaRPr>
          </a:p>
        </p:txBody>
      </p:sp>
      <p:sp>
        <p:nvSpPr>
          <p:cNvPr id="19" name="F4_LegendSharedMark"/>
          <p:cNvSpPr/>
          <p:nvPr/>
        </p:nvSpPr>
        <p:spPr>
          <a:xfrm>
            <a:off x="8305800" y="5613400"/>
            <a:ext cx="279400" cy="2794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C77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4_LegendSharedText"/>
          <p:cNvSpPr txBox="1"/>
          <p:nvPr/>
        </p:nvSpPr>
        <p:spPr>
          <a:xfrm>
            <a:off x="8763000" y="5562600"/>
            <a:ext cx="2794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4213A"/>
                </a:solidFill>
                <a:latin typeface="Arial" panose="020B0604020202020204" pitchFamily="34" charset="0"/>
              </a:rPr>
              <a:t>Shared state: 1.484 pp
(5.000%)</a:t>
            </a:r>
            <a:endParaRPr lang="zh-CN" altLang="en-US" sz="1300">
              <a:solidFill>
                <a:srgbClr val="14213A"/>
              </a:solidFill>
              <a:latin typeface="Arial" panose="020B0604020202020204" pitchFamily="34" charset="0"/>
            </a:endParaRPr>
          </a:p>
        </p:txBody>
      </p:sp>
      <p:sp>
        <p:nvSpPr>
          <p:cNvPr id="21" name="F4_Caveat"/>
          <p:cNvSpPr txBox="1"/>
          <p:nvPr/>
        </p:nvSpPr>
        <p:spPr>
          <a:xfrm>
            <a:off x="1968500" y="6413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i="1">
                <a:solidFill>
                  <a:srgbClr val="315E8E"/>
                </a:solidFill>
                <a:latin typeface="Arial" panose="020B0604020202020204" pitchFamily="34" charset="0"/>
              </a:rPr>
              <a:t>𝑞 </a:t>
            </a:r>
            <a:r>
              <a:rPr lang="en-US" altLang="zh-CN" sz="1200" i="1">
                <a:solidFill>
                  <a:srgbClr val="315E8E"/>
                </a:solidFill>
                <a:latin typeface="Arial" panose="020B0604020202020204" pitchFamily="34" charset="0"/>
              </a:rPr>
              <a:t>= .05 is declared, not an observed compromise rate. The points are not three executed provider arms.</a:t>
            </a:r>
            <a:endParaRPr lang="zh-CN" altLang="en-US" sz="1200" i="1">
              <a:solidFill>
                <a:srgbClr val="315E8E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SCIENTIFICILLUSTRATORSOURCENAME" val="F1_WriteBackBox"/>
  <p:tag name="SCIENTIFICILLUSTRATORTARGETNAME" val="F1_Monitor"/>
  <p:tag name="SCIENTIFICILLUSTRATORSOURCESITE" val="3"/>
  <p:tag name="SCIENTIFICILLUSTRATORTARGETSITE" val="1"/>
</p:tagLst>
</file>

<file path=ppt/tags/tag2.xml><?xml version="1.0" encoding="utf-8"?>
<p:tagLst xmlns:p="http://schemas.openxmlformats.org/presentationml/2006/main">
  <p:tag name="SCIENTIFICILLUSTRATORSOURCENAME" val="F1_ElevationBox"/>
  <p:tag name="SCIENTIFICILLUSTRATORTARGETNAME" val="F1_Receiver"/>
  <p:tag name="SCIENTIFICILLUSTRATORSOURCESITE" val="3"/>
  <p:tag name="SCIENTIFICILLUSTRATORTARGETSITE" val="1"/>
</p:tagLst>
</file>

<file path=ppt/tags/tag3.xml><?xml version="1.0" encoding="utf-8"?>
<p:tagLst xmlns:p="http://schemas.openxmlformats.org/presentationml/2006/main">
  <p:tag name="SCIENTIFICILLUSTRATORSOURCENAME" val="F1_Store"/>
  <p:tag name="SCIENTIFICILLUSTRATORTARGETNAME" val="F1_Downstream"/>
  <p:tag name="SCIENTIFICILLUSTRATORSOURCESITE" val="1"/>
  <p:tag name="SCIENTIFICILLUSTRATORTARGETSITE" val="1"/>
</p:tagLst>
</file>

<file path=ppt/tags/tag4.xml><?xml version="1.0" encoding="utf-8"?>
<p:tagLst xmlns:p="http://schemas.openxmlformats.org/presentationml/2006/main">
  <p:tag name="SCIENTIFICILLUSTRATORSOURCENAME" val="F1_Monitor"/>
  <p:tag name="SCIENTIFICILLUSTRATORTARGETNAME" val="F1_Store"/>
  <p:tag name="SCIENTIFICILLUSTRATORSOURCESITE" val="1"/>
  <p:tag name="SCIENTIFICILLUSTRATORTARGETSITE" val="1"/>
</p:tagLst>
</file>

<file path=ppt/tags/tag5.xml><?xml version="1.0" encoding="utf-8"?>
<p:tagLst xmlns:p="http://schemas.openxmlformats.org/presentationml/2006/main">
  <p:tag name="SCIENTIFICILLUSTRATORSOURCENAME" val="F1_Receiver"/>
  <p:tag name="SCIENTIFICILLUSTRATORTARGETNAME" val="F1_Monitor"/>
  <p:tag name="SCIENTIFICILLUSTRATORSOURCESITE" val="1"/>
  <p:tag name="SCIENTIFICILLUSTRATORTARGETSITE" val="1"/>
</p:tagLst>
</file>

<file path=ppt/tags/tag6.xml><?xml version="1.0" encoding="utf-8"?>
<p:tagLst xmlns:p="http://schemas.openxmlformats.org/presentationml/2006/main">
  <p:tag name="SCIENTIFICILLUSTRATORSOURCENAME" val="F1_Untrusted"/>
  <p:tag name="SCIENTIFICILLUSTRATORTARGETNAME" val="F1_Receiver"/>
  <p:tag name="SCIENTIFICILLUSTRATORSOURCESITE" val="1"/>
  <p:tag name="SCIENTIFICILLUSTRATORTARGETSITE" val="1"/>
</p:tagLst>
</file>

<file path=ppt/tags/tag7.xml><?xml version="1.0" encoding="utf-8"?>
<p:tagLst xmlns:p="http://schemas.openxmlformats.org/presentationml/2006/main">
  <p:tag name="SCIENTIFICILLUSTRATORBEGINX" val="94"/>
  <p:tag name="SCIENTIFICILLUSTRATORBEGINY" val="478"/>
  <p:tag name="SCIENTIFICILLUSTRATORENDX" val="155"/>
  <p:tag name="SCIENTIFICILLUSTRATORENDY" val="478"/>
  <p:tag name="SCIENTIFICILLUSTRATORSTARTCLEARANCE" val="0"/>
  <p:tag name="SCIENTIFICILLUSTRATORENDCLEARANCE" val="0"/>
</p:tagLst>
</file>

<file path=ppt/tags/tag8.xml><?xml version="1.0" encoding="utf-8"?>
<p:tagLst xmlns:p="http://schemas.openxmlformats.org/presentationml/2006/main">
  <p:tag name="SCIENTIFICILLUSTRATORBEGINX" val="94"/>
  <p:tag name="SCIENTIFICILLUSTRATORBEGINY" val="470"/>
  <p:tag name="SCIENTIFICILLUSTRATORENDX" val="94"/>
  <p:tag name="SCIENTIFICILLUSTRATORENDY" val="478"/>
  <p:tag name="SCIENTIFICILLUSTRATORSTARTCLEARANCE" val="0"/>
  <p:tag name="SCIENTIFICILLUSTRATORENDCLEARANCE" val="0"/>
</p:tagLst>
</file>

<file path=ppt/tags/tag9.xml><?xml version="1.0" encoding="utf-8"?>
<p:tagLst xmlns:p="http://schemas.openxmlformats.org/presentationml/2006/main">
  <p:tag name="SCIENTIFICILLUSTRATORBEGINX" val="155"/>
  <p:tag name="SCIENTIFICILLUSTRATORBEGINY" val="470"/>
  <p:tag name="SCIENTIFICILLUSTRATORENDX" val="155"/>
  <p:tag name="SCIENTIFICILLUSTRATORENDY" val="478"/>
  <p:tag name="SCIENTIFICILLUSTRATORSTARTCLEARANCE" val="0"/>
  <p:tag name="SCIENTIFICILLUSTRATORENDCLEARANCE" val="0"/>
</p:tagLst>
</file>

<file path=ppt/tags/tag10.xml><?xml version="1.0" encoding="utf-8"?>
<p:tagLst xmlns:p="http://schemas.openxmlformats.org/presentationml/2006/main">
  <p:tag name="SCIENTIFICILLUSTRATORBEGINX" val="169"/>
  <p:tag name="SCIENTIFICILLUSTRATORBEGINY" val="478"/>
  <p:tag name="SCIENTIFICILLUSTRATORENDX" val="335"/>
  <p:tag name="SCIENTIFICILLUSTRATORENDY" val="478"/>
  <p:tag name="SCIENTIFICILLUSTRATORSTARTCLEARANCE" val="0"/>
  <p:tag name="SCIENTIFICILLUSTRATORENDCLEARANCE" val="0"/>
</p:tagLst>
</file>

<file path=ppt/tags/tag11.xml><?xml version="1.0" encoding="utf-8"?>
<p:tagLst xmlns:p="http://schemas.openxmlformats.org/presentationml/2006/main">
  <p:tag name="SCIENTIFICILLUSTRATORBEGINX" val="169"/>
  <p:tag name="SCIENTIFICILLUSTRATORBEGINY" val="470"/>
  <p:tag name="SCIENTIFICILLUSTRATORENDX" val="169"/>
  <p:tag name="SCIENTIFICILLUSTRATORENDY" val="478"/>
  <p:tag name="SCIENTIFICILLUSTRATORSTARTCLEARANCE" val="0"/>
  <p:tag name="SCIENTIFICILLUSTRATORENDCLEARANCE" val="0"/>
</p:tagLst>
</file>

<file path=ppt/tags/tag12.xml><?xml version="1.0" encoding="utf-8"?>
<p:tagLst xmlns:p="http://schemas.openxmlformats.org/presentationml/2006/main">
  <p:tag name="SCIENTIFICILLUSTRATORBEGINX" val="335"/>
  <p:tag name="SCIENTIFICILLUSTRATORBEGINY" val="470"/>
  <p:tag name="SCIENTIFICILLUSTRATORENDX" val="335"/>
  <p:tag name="SCIENTIFICILLUSTRATORENDY" val="478"/>
  <p:tag name="SCIENTIFICILLUSTRATORSTARTCLEARANCE" val="0"/>
  <p:tag name="SCIENTIFICILLUSTRATORENDCLEARANCE" val="0"/>
</p:tagLst>
</file>

<file path=ppt/tags/tag13.xml><?xml version="1.0" encoding="utf-8"?>
<p:tagLst xmlns:p="http://schemas.openxmlformats.org/presentationml/2006/main">
  <p:tag name="SCIENTIFICILLUSTRATORBEGINX" val="349"/>
  <p:tag name="SCIENTIFICILLUSTRATORBEGINY" val="478"/>
  <p:tag name="SCIENTIFICILLUSTRATORENDX" val="514"/>
  <p:tag name="SCIENTIFICILLUSTRATORENDY" val="478"/>
  <p:tag name="SCIENTIFICILLUSTRATORSTARTCLEARANCE" val="0"/>
  <p:tag name="SCIENTIFICILLUSTRATORENDCLEARANCE" val="0"/>
</p:tagLst>
</file>

<file path=ppt/tags/tag14.xml><?xml version="1.0" encoding="utf-8"?>
<p:tagLst xmlns:p="http://schemas.openxmlformats.org/presentationml/2006/main">
  <p:tag name="SCIENTIFICILLUSTRATORBEGINX" val="349"/>
  <p:tag name="SCIENTIFICILLUSTRATORBEGINY" val="470"/>
  <p:tag name="SCIENTIFICILLUSTRATORENDX" val="349"/>
  <p:tag name="SCIENTIFICILLUSTRATORENDY" val="478"/>
  <p:tag name="SCIENTIFICILLUSTRATORSTARTCLEARANCE" val="0"/>
  <p:tag name="SCIENTIFICILLUSTRATORENDCLEARANCE" val="0"/>
</p:tagLst>
</file>

<file path=ppt/tags/tag15.xml><?xml version="1.0" encoding="utf-8"?>
<p:tagLst xmlns:p="http://schemas.openxmlformats.org/presentationml/2006/main">
  <p:tag name="SCIENTIFICILLUSTRATORBEGINX" val="514"/>
  <p:tag name="SCIENTIFICILLUSTRATORBEGINY" val="470"/>
  <p:tag name="SCIENTIFICILLUSTRATORENDX" val="514"/>
  <p:tag name="SCIENTIFICILLUSTRATORENDY" val="478"/>
  <p:tag name="SCIENTIFICILLUSTRATORSTARTCLEARANCE" val="0"/>
  <p:tag name="SCIENTIFICILLUSTRATORENDCLEARANCE" val="0"/>
</p:tagLst>
</file>

<file path=ppt/tags/tag16.xml><?xml version="1.0" encoding="utf-8"?>
<p:tagLst xmlns:p="http://schemas.openxmlformats.org/presentationml/2006/main">
  <p:tag name="SCIENTIFICILLUSTRATORSOURCENAME" val="F3_BoxR1"/>
  <p:tag name="SCIENTIFICILLUSTRATORTARGETNAME" val="F3_BoxR2"/>
  <p:tag name="SCIENTIFICILLUSTRATORSOURCESITE" val="4"/>
  <p:tag name="SCIENTIFICILLUSTRATORTARGETSITE" val="2"/>
</p:tagLst>
</file>

<file path=ppt/tags/tag17.xml><?xml version="1.0" encoding="utf-8"?>
<p:tagLst xmlns:p="http://schemas.openxmlformats.org/presentationml/2006/main">
  <p:tag name="SCIENTIFICILLUSTRATORSOURCENAME" val="F3_BoxSelected"/>
  <p:tag name="SCIENTIFICILLUSTRATORTARGETNAME" val="F3_BoxR1"/>
  <p:tag name="SCIENTIFICILLUSTRATORSOURCESITE" val="4"/>
  <p:tag name="SCIENTIFICILLUSTRATORTARGETSITE" val="2"/>
</p:tagLst>
</file>

<file path=ppt/tags/tag18.xml><?xml version="1.0" encoding="utf-8"?>
<p:tagLst xmlns:p="http://schemas.openxmlformats.org/presentationml/2006/main">
  <p:tag name="SCIENTIFICILLUSTRATORSOURCENAME" val="F3_BoxBank"/>
  <p:tag name="SCIENTIFICILLUSTRATORTARGETNAME" val="F3_BoxSelected"/>
  <p:tag name="SCIENTIFICILLUSTRATORSOURCESITE" val="4"/>
  <p:tag name="SCIENTIFICILLUSTRATORTARGETSITE" val="2"/>
</p:tagLst>
</file>

<file path=ppt/tags/tag19.xml><?xml version="1.0" encoding="utf-8"?>
<p:tagLst xmlns:p="http://schemas.openxmlformats.org/presentationml/2006/main">
  <p:tag name="SCIENTIFICILLUSTRATORBEGINX" val="370"/>
  <p:tag name="SCIENTIFICILLUSTRATORBEGINY" val="128"/>
  <p:tag name="SCIENTIFICILLUSTRATORENDX" val="565"/>
  <p:tag name="SCIENTIFICILLUSTRATORENDY" val="128"/>
  <p:tag name="SCIENTIFICILLUSTRATORSTARTCLEARANCE" val="0"/>
  <p:tag name="SCIENTIFICILLUSTRATORENDCLEARANCE" val="0"/>
</p:tagLst>
</file>

<file path=ppt/tags/tag20.xml><?xml version="1.0" encoding="utf-8"?>
<p:tagLst xmlns:p="http://schemas.openxmlformats.org/presentationml/2006/main">
  <p:tag name="SCIENTIFICILLUSTRATORBEGINX" val="370"/>
  <p:tag name="SCIENTIFICILLUSTRATORBEGINY" val="128"/>
  <p:tag name="SCIENTIFICILLUSTRATORENDX" val="370"/>
  <p:tag name="SCIENTIFICILLUSTRATORENDY" val="140"/>
  <p:tag name="SCIENTIFICILLUSTRATORSTARTCLEARANCE" val="0"/>
  <p:tag name="SCIENTIFICILLUSTRATORENDCLEARANCE" val="0"/>
</p:tagLst>
</file>

<file path=ppt/tags/tag21.xml><?xml version="1.0" encoding="utf-8"?>
<p:tagLst xmlns:p="http://schemas.openxmlformats.org/presentationml/2006/main">
  <p:tag name="SCIENTIFICILLUSTRATORBEGINX" val="565"/>
  <p:tag name="SCIENTIFICILLUSTRATORBEGINY" val="128"/>
  <p:tag name="SCIENTIFICILLUSTRATORENDX" val="565"/>
  <p:tag name="SCIENTIFICILLUSTRATORENDY" val="140"/>
  <p:tag name="SCIENTIFICILLUSTRATORSTARTCLEARANCE" val="0"/>
  <p:tag name="SCIENTIFICILLUSTRATORENDCLEARANCE" val="0"/>
</p:tagLst>
</file>

<file path=ppt/tags/tag22.xml><?xml version="1.0" encoding="utf-8"?>
<p:tagLst xmlns:p="http://schemas.openxmlformats.org/presentationml/2006/main">
  <p:tag name="SCIENTIFICILLUSTRATORBEGINX" val="625"/>
  <p:tag name="SCIENTIFICILLUSTRATORBEGINY" val="128"/>
  <p:tag name="SCIENTIFICILLUSTRATORENDX" val="820"/>
  <p:tag name="SCIENTIFICILLUSTRATORENDY" val="128"/>
  <p:tag name="SCIENTIFICILLUSTRATORSTARTCLEARANCE" val="0"/>
  <p:tag name="SCIENTIFICILLUSTRATORENDCLEARANCE" val="0"/>
</p:tagLst>
</file>

<file path=ppt/tags/tag23.xml><?xml version="1.0" encoding="utf-8"?>
<p:tagLst xmlns:p="http://schemas.openxmlformats.org/presentationml/2006/main">
  <p:tag name="SCIENTIFICILLUSTRATORBEGINX" val="625"/>
  <p:tag name="SCIENTIFICILLUSTRATORBEGINY" val="128"/>
  <p:tag name="SCIENTIFICILLUSTRATORENDX" val="625"/>
  <p:tag name="SCIENTIFICILLUSTRATORENDY" val="140"/>
  <p:tag name="SCIENTIFICILLUSTRATORSTARTCLEARANCE" val="0"/>
  <p:tag name="SCIENTIFICILLUSTRATORENDCLEARANCE" val="0"/>
</p:tagLst>
</file>

<file path=ppt/tags/tag24.xml><?xml version="1.0" encoding="utf-8"?>
<p:tagLst xmlns:p="http://schemas.openxmlformats.org/presentationml/2006/main">
  <p:tag name="SCIENTIFICILLUSTRATORBEGINX" val="820"/>
  <p:tag name="SCIENTIFICILLUSTRATORBEGINY" val="128"/>
  <p:tag name="SCIENTIFICILLUSTRATORENDX" val="820"/>
  <p:tag name="SCIENTIFICILLUSTRATORENDY" val="140"/>
  <p:tag name="SCIENTIFICILLUSTRATORSTARTCLEARANCE" val="0"/>
  <p:tag name="SCIENTIFICILLUSTRATORENDCLEARANCE" val="0"/>
</p:tagLst>
</file>

<file path=ppt/tags/tag25.xml><?xml version="1.0" encoding="utf-8"?>
<p:tagLst xmlns:p="http://schemas.openxmlformats.org/presentationml/2006/main">
  <p:tag name="SCIENTIFICILLUSTRATORBEGINX" val="25"/>
  <p:tag name="SCIENTIFICILLUSTRATORBEGINY" val="72"/>
  <p:tag name="SCIENTIFICILLUSTRATORENDX" val="935"/>
  <p:tag name="SCIENTIFICILLUSTRATORENDY" val="72"/>
  <p:tag name="SCIENTIFICILLUSTRATORSTARTCLEARANCE" val="0"/>
  <p:tag name="SCIENTIFICILLUSTRATORENDCLEARANCE" val="0"/>
</p:tagLst>
</file>

<file path=ppt/tags/tag26.xml><?xml version="1.0" encoding="utf-8"?>
<p:tagLst xmlns:p="http://schemas.openxmlformats.org/presentationml/2006/main">
  <p:tag name="SCIENTIFICILLUSTRATORBEGINX" val="760"/>
  <p:tag name="SCIENTIFICILLUSTRATORBEGINY" val="16"/>
  <p:tag name="SCIENTIFICILLUSTRATORENDX" val="760"/>
  <p:tag name="SCIENTIFICILLUSTRATORENDY" val="58"/>
  <p:tag name="SCIENTIFICILLUSTRATORSTARTCLEARANCE" val="0"/>
  <p:tag name="SCIENTIFICILLUSTRATORENDCLEARANCE" val="0"/>
</p:tagLst>
</file>

<file path=ppt/tags/tag27.xml><?xml version="1.0" encoding="utf-8"?>
<p:tagLst xmlns:p="http://schemas.openxmlformats.org/presentationml/2006/main">
  <p:tag name="SCIENTIFICILLUSTRATORBEGINX" val="515"/>
  <p:tag name="SCIENTIFICILLUSTRATORBEGINY" val="275"/>
  <p:tag name="SCIENTIFICILLUSTRATORENDX" val="535"/>
  <p:tag name="SCIENTIFICILLUSTRATORENDY" val="255"/>
  <p:tag name="SCIENTIFICILLUSTRATORSTARTCLEARANCE" val="0"/>
  <p:tag name="SCIENTIFICILLUSTRATORENDCLEARANCE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WPS 演示</Application>
  <PresentationFormat>宽屏</PresentationFormat>
  <Paragraphs>144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等线</vt:lpstr>
      <vt:lpstr>BatangChe</vt:lpstr>
      <vt:lpstr>Segoe Print</vt:lpstr>
      <vt:lpstr>微软雅黑</vt:lpstr>
      <vt:lpstr>Arial Unicode MS</vt:lpstr>
      <vt:lpstr>等线 Light</vt:lpstr>
      <vt:lpstr>Calibri</vt:lpstr>
      <vt:lpstr>MS PGothic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ry</dc:creator>
  <cp:lastModifiedBy>unbliverpool</cp:lastModifiedBy>
  <cp:revision>2</cp:revision>
  <dcterms:created xsi:type="dcterms:W3CDTF">2026-09-21T12:04:00Z</dcterms:created>
  <dcterms:modified xsi:type="dcterms:W3CDTF">2026-09-27T05:50:52Z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FED811AD40BF41B9BA728934CCAAA136_12</vt:lpwstr>
  </property>
  <property fmtid="{D5CDD505-2E9C-101B-9397-08002B2CF9AE}" pid="3" name="KSOProductBuildVer">
    <vt:lpwstr>2052-12.1.0.28505</vt:lpwstr>
  </property>
</Properties>
</file>